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72" r:id="rId1"/>
  </p:sldMasterIdLst>
  <p:notesMasterIdLst>
    <p:notesMasterId r:id="rId3"/>
  </p:notesMasterIdLst>
  <p:sldIdLst>
    <p:sldId id="297" r:id="rId2"/>
  </p:sldIdLst>
  <p:sldSz cx="49377600" cy="32918400"/>
  <p:notesSz cx="6858000" cy="9144000"/>
  <p:embeddedFontLst>
    <p:embeddedFont>
      <p:font typeface="Lato" panose="020F0502020204030203" pitchFamily="34" charset="0"/>
      <p:regular r:id="rId4"/>
      <p:bold r:id="rId5"/>
      <p:italic r:id="rId6"/>
      <p:boldItalic r:id="rId7"/>
    </p:embeddedFont>
    <p:embeddedFont>
      <p:font typeface="Lato Black" panose="020F0502020204030204" pitchFamily="34" charset="0"/>
      <p:bold r:id="rId8"/>
      <p:italic r:id="rId9"/>
      <p:boldItalic r:id="rId10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pos="15576" userDrawn="1">
          <p15:clr>
            <a:srgbClr val="A4A3A4"/>
          </p15:clr>
        </p15:guide>
        <p15:guide id="3" pos="6024" userDrawn="1">
          <p15:clr>
            <a:srgbClr val="A4A3A4"/>
          </p15:clr>
        </p15:guide>
        <p15:guide id="4" pos="264" userDrawn="1">
          <p15:clr>
            <a:srgbClr val="A4A3A4"/>
          </p15:clr>
        </p15:guide>
        <p15:guide id="5" pos="744" userDrawn="1">
          <p15:clr>
            <a:srgbClr val="A4A3A4"/>
          </p15:clr>
        </p15:guide>
        <p15:guide id="6" orient="horz" pos="10368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C0553A3F-93F7-EF41-DDF1-3C9B53A41F89}" name="Seungju Kim" initials="SK" userId="Seungju Kim" providerId="Non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B5E20"/>
    <a:srgbClr val="333333"/>
    <a:srgbClr val="FFD54F"/>
    <a:srgbClr val="FFC107"/>
    <a:srgbClr val="263238"/>
    <a:srgbClr val="E1E082"/>
    <a:srgbClr val="E04336"/>
    <a:srgbClr val="E91E63"/>
    <a:srgbClr val="B3E5FC"/>
    <a:srgbClr val="FF8A8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66" d="100"/>
          <a:sy n="66" d="100"/>
        </p:scale>
        <p:origin x="0" y="0"/>
      </p:cViewPr>
      <p:guideLst>
        <p:guide pos="15576"/>
        <p:guide pos="6024"/>
        <p:guide pos="264"/>
        <p:guide pos="744"/>
        <p:guide orient="horz" pos="10368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5.fntdata"/><Relationship Id="rId13" Type="http://schemas.openxmlformats.org/officeDocument/2006/relationships/theme" Target="theme/theme1.xml"/><Relationship Id="rId3" Type="http://schemas.openxmlformats.org/officeDocument/2006/relationships/notesMaster" Target="notesMasters/notesMaster1.xml"/><Relationship Id="rId7" Type="http://schemas.openxmlformats.org/officeDocument/2006/relationships/font" Target="fonts/font4.fntdata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microsoft.com/office/2018/10/relationships/authors" Target="authors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3.fntdata"/><Relationship Id="rId11" Type="http://schemas.openxmlformats.org/officeDocument/2006/relationships/presProps" Target="presProps.xml"/><Relationship Id="rId5" Type="http://schemas.openxmlformats.org/officeDocument/2006/relationships/font" Target="fonts/font2.fntdata"/><Relationship Id="rId15" Type="http://schemas.microsoft.com/office/2016/11/relationships/changesInfo" Target="changesInfos/changesInfo1.xml"/><Relationship Id="rId10" Type="http://schemas.openxmlformats.org/officeDocument/2006/relationships/font" Target="fonts/font7.fntdata"/><Relationship Id="rId4" Type="http://schemas.openxmlformats.org/officeDocument/2006/relationships/font" Target="fonts/font1.fntdata"/><Relationship Id="rId9" Type="http://schemas.openxmlformats.org/officeDocument/2006/relationships/font" Target="fonts/font6.fntdata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im, Seungju" userId="S::seungju7@illinois.edu::fccf6f3b-4c87-480d-ad8b-c44339587c66" providerId="AD" clId="Web-{6341F072-1786-F0C6-9DBE-CE333D54B699}"/>
    <pc:docChg chg="modSld">
      <pc:chgData name="Kim, Seungju" userId="S::seungju7@illinois.edu::fccf6f3b-4c87-480d-ad8b-c44339587c66" providerId="AD" clId="Web-{6341F072-1786-F0C6-9DBE-CE333D54B699}" dt="2024-08-13T01:52:06.262" v="1"/>
      <pc:docMkLst>
        <pc:docMk/>
      </pc:docMkLst>
      <pc:sldChg chg="modSp">
        <pc:chgData name="Kim, Seungju" userId="S::seungju7@illinois.edu::fccf6f3b-4c87-480d-ad8b-c44339587c66" providerId="AD" clId="Web-{6341F072-1786-F0C6-9DBE-CE333D54B699}" dt="2024-08-13T01:52:06.262" v="1"/>
        <pc:sldMkLst>
          <pc:docMk/>
          <pc:sldMk cId="369395933" sldId="297"/>
        </pc:sldMkLst>
        <pc:spChg chg="mod">
          <ac:chgData name="Kim, Seungju" userId="S::seungju7@illinois.edu::fccf6f3b-4c87-480d-ad8b-c44339587c66" providerId="AD" clId="Web-{6341F072-1786-F0C6-9DBE-CE333D54B699}" dt="2024-08-13T01:52:06.262" v="1"/>
          <ac:spMkLst>
            <pc:docMk/>
            <pc:sldMk cId="369395933" sldId="297"/>
            <ac:spMk id="30" creationId="{C8896619-6953-4449-9A3C-A61AD6AB2C79}"/>
          </ac:spMkLst>
        </pc:spChg>
      </pc:sldChg>
    </pc:docChg>
  </pc:docChgLst>
  <pc:docChgLst>
    <pc:chgData name="Kim, Seungju" userId="S::seungju7@illinois.edu::fccf6f3b-4c87-480d-ad8b-c44339587c66" providerId="AD" clId="Web-{27F51154-6A5C-1055-630F-826B7C1E89AE}"/>
    <pc:docChg chg="modSld">
      <pc:chgData name="Kim, Seungju" userId="S::seungju7@illinois.edu::fccf6f3b-4c87-480d-ad8b-c44339587c66" providerId="AD" clId="Web-{27F51154-6A5C-1055-630F-826B7C1E89AE}" dt="2024-08-13T00:25:22.413" v="0" actId="20577"/>
      <pc:docMkLst>
        <pc:docMk/>
      </pc:docMkLst>
      <pc:sldChg chg="modSp">
        <pc:chgData name="Kim, Seungju" userId="S::seungju7@illinois.edu::fccf6f3b-4c87-480d-ad8b-c44339587c66" providerId="AD" clId="Web-{27F51154-6A5C-1055-630F-826B7C1E89AE}" dt="2024-08-13T00:25:22.413" v="0" actId="20577"/>
        <pc:sldMkLst>
          <pc:docMk/>
          <pc:sldMk cId="369395933" sldId="297"/>
        </pc:sldMkLst>
        <pc:spChg chg="mod">
          <ac:chgData name="Kim, Seungju" userId="S::seungju7@illinois.edu::fccf6f3b-4c87-480d-ad8b-c44339587c66" providerId="AD" clId="Web-{27F51154-6A5C-1055-630F-826B7C1E89AE}" dt="2024-08-13T00:25:22.413" v="0" actId="20577"/>
          <ac:spMkLst>
            <pc:docMk/>
            <pc:sldMk cId="369395933" sldId="297"/>
            <ac:spMk id="7" creationId="{FCAC4B58-8623-4DBE-951A-DDF821787031}"/>
          </ac:spMkLst>
        </pc:spChg>
      </pc:sldChg>
    </pc:docChg>
  </pc:docChgLst>
  <pc:docChgLst>
    <pc:chgData name="Kim, Seungju" userId="S::seungju7@illinois.edu::fccf6f3b-4c87-480d-ad8b-c44339587c66" providerId="AD" clId="Web-{CD7E66B8-4403-849F-E37D-93F874D02982}"/>
    <pc:docChg chg="delSld">
      <pc:chgData name="Kim, Seungju" userId="S::seungju7@illinois.edu::fccf6f3b-4c87-480d-ad8b-c44339587c66" providerId="AD" clId="Web-{CD7E66B8-4403-849F-E37D-93F874D02982}" dt="2024-08-13T00:23:28.893" v="0"/>
      <pc:docMkLst>
        <pc:docMk/>
      </pc:docMkLst>
      <pc:sldChg chg="del">
        <pc:chgData name="Kim, Seungju" userId="S::seungju7@illinois.edu::fccf6f3b-4c87-480d-ad8b-c44339587c66" providerId="AD" clId="Web-{CD7E66B8-4403-849F-E37D-93F874D02982}" dt="2024-08-13T00:23:28.893" v="0"/>
        <pc:sldMkLst>
          <pc:docMk/>
          <pc:sldMk cId="4252845796" sldId="296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D1CB04D-1C75-43E0-9B64-B7DDAA42BB2C}" type="datetimeFigureOut">
              <a:rPr lang="en-US" smtClean="0"/>
              <a:t>1/2/25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14425" y="1143000"/>
            <a:ext cx="462915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26C2670-3342-473C-969D-FDFF399F20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17496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Notes: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/>
              <a:t>In </a:t>
            </a:r>
            <a:r>
              <a:rPr lang="en-US" err="1"/>
              <a:t>Powerpoint</a:t>
            </a:r>
            <a:r>
              <a:rPr lang="en-US"/>
              <a:t>, click View &gt; Guides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/>
              <a:t>Keep text within gutter guides.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/>
              <a:t>Author list: Don’t split names onto two lines (e.g., “Jimmy [break] Smith”). If that happens, use a new line, unless you need the space. </a:t>
            </a:r>
            <a:r>
              <a:rPr lang="en-US" b="1"/>
              <a:t>Bold the first names of anybody who’s presenting</a:t>
            </a:r>
            <a:r>
              <a:rPr lang="en-US"/>
              <a:t> in person.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/>
              <a:t>Intro/methods/result: </a:t>
            </a:r>
            <a:r>
              <a:rPr lang="en-US" b="1"/>
              <a:t>Do not drop below font size 28</a:t>
            </a:r>
            <a:r>
              <a:rPr lang="en-US"/>
              <a:t>, but if you have extra space, jack up the font size until the space is full.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/>
              <a:t>Do not use color in the sidebars except in graphs/figures. It’ll pull attention from the center and slow interpretation for passersby.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6C2670-3342-473C-969D-FDFF399F2050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257281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703320" y="5387342"/>
            <a:ext cx="41970960" cy="11460480"/>
          </a:xfrm>
        </p:spPr>
        <p:txBody>
          <a:bodyPr anchor="b"/>
          <a:lstStyle>
            <a:lvl1pPr algn="ctr">
              <a:defRPr sz="9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172200" y="17289782"/>
            <a:ext cx="37033200" cy="7947658"/>
          </a:xfrm>
        </p:spPr>
        <p:txBody>
          <a:bodyPr/>
          <a:lstStyle>
            <a:lvl1pPr marL="0" indent="0" algn="ctr">
              <a:buNone/>
              <a:defRPr sz="3600"/>
            </a:lvl1pPr>
            <a:lvl2pPr marL="685800" indent="0" algn="ctr">
              <a:buNone/>
              <a:defRPr sz="3000"/>
            </a:lvl2pPr>
            <a:lvl3pPr marL="1371600" indent="0" algn="ctr">
              <a:buNone/>
              <a:defRPr sz="2700"/>
            </a:lvl3pPr>
            <a:lvl4pPr marL="2057400" indent="0" algn="ctr">
              <a:buNone/>
              <a:defRPr sz="2400"/>
            </a:lvl4pPr>
            <a:lvl5pPr marL="2743200" indent="0" algn="ctr">
              <a:buNone/>
              <a:defRPr sz="2400"/>
            </a:lvl5pPr>
            <a:lvl6pPr marL="3429000" indent="0" algn="ctr">
              <a:buNone/>
              <a:defRPr sz="2400"/>
            </a:lvl6pPr>
            <a:lvl7pPr marL="4114800" indent="0" algn="ctr">
              <a:buNone/>
              <a:defRPr sz="2400"/>
            </a:lvl7pPr>
            <a:lvl8pPr marL="4800600" indent="0" algn="ctr">
              <a:buNone/>
              <a:defRPr sz="2400"/>
            </a:lvl8pPr>
            <a:lvl9pPr marL="5486400" indent="0" algn="ctr">
              <a:buNone/>
              <a:defRPr sz="24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1/2/25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43169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1/2/25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5857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68995" y="8206749"/>
            <a:ext cx="42588180" cy="13693138"/>
          </a:xfrm>
        </p:spPr>
        <p:txBody>
          <a:bodyPr anchor="b"/>
          <a:lstStyle>
            <a:lvl1pPr>
              <a:defRPr sz="9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368995" y="22029429"/>
            <a:ext cx="42588180" cy="7200898"/>
          </a:xfrm>
        </p:spPr>
        <p:txBody>
          <a:bodyPr/>
          <a:lstStyle>
            <a:lvl1pPr marL="0" indent="0">
              <a:buNone/>
              <a:defRPr sz="3600">
                <a:solidFill>
                  <a:schemeClr val="tx1"/>
                </a:solidFill>
              </a:defRPr>
            </a:lvl1pPr>
            <a:lvl2pPr marL="685800" indent="0">
              <a:buNone/>
              <a:defRPr sz="3000">
                <a:solidFill>
                  <a:schemeClr val="tx1">
                    <a:tint val="75000"/>
                  </a:schemeClr>
                </a:solidFill>
              </a:defRPr>
            </a:lvl2pPr>
            <a:lvl3pPr marL="1371600" indent="0">
              <a:buNone/>
              <a:defRPr sz="2700">
                <a:solidFill>
                  <a:schemeClr val="tx1">
                    <a:tint val="75000"/>
                  </a:schemeClr>
                </a:solidFill>
              </a:defRPr>
            </a:lvl3pPr>
            <a:lvl4pPr marL="20574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4pPr>
            <a:lvl5pPr marL="27432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5pPr>
            <a:lvl6pPr marL="34290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6pPr>
            <a:lvl7pPr marL="41148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7pPr>
            <a:lvl8pPr marL="48006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8pPr>
            <a:lvl9pPr marL="54864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1/2/25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40994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394710" y="8763000"/>
            <a:ext cx="20985480" cy="208864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4997410" y="8763000"/>
            <a:ext cx="20985480" cy="208864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1/2/25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53024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01141" y="1752607"/>
            <a:ext cx="42588180" cy="636270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01147" y="8069582"/>
            <a:ext cx="20889036" cy="3954778"/>
          </a:xfrm>
        </p:spPr>
        <p:txBody>
          <a:bodyPr anchor="b"/>
          <a:lstStyle>
            <a:lvl1pPr marL="0" indent="0">
              <a:buNone/>
              <a:defRPr sz="3600" b="1"/>
            </a:lvl1pPr>
            <a:lvl2pPr marL="685800" indent="0">
              <a:buNone/>
              <a:defRPr sz="3000" b="1"/>
            </a:lvl2pPr>
            <a:lvl3pPr marL="1371600" indent="0">
              <a:buNone/>
              <a:defRPr sz="2700" b="1"/>
            </a:lvl3pPr>
            <a:lvl4pPr marL="2057400" indent="0">
              <a:buNone/>
              <a:defRPr sz="2400" b="1"/>
            </a:lvl4pPr>
            <a:lvl5pPr marL="2743200" indent="0">
              <a:buNone/>
              <a:defRPr sz="2400" b="1"/>
            </a:lvl5pPr>
            <a:lvl6pPr marL="3429000" indent="0">
              <a:buNone/>
              <a:defRPr sz="2400" b="1"/>
            </a:lvl6pPr>
            <a:lvl7pPr marL="4114800" indent="0">
              <a:buNone/>
              <a:defRPr sz="2400" b="1"/>
            </a:lvl7pPr>
            <a:lvl8pPr marL="4800600" indent="0">
              <a:buNone/>
              <a:defRPr sz="2400" b="1"/>
            </a:lvl8pPr>
            <a:lvl9pPr marL="5486400" indent="0">
              <a:buNone/>
              <a:defRPr sz="24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01147" y="12024360"/>
            <a:ext cx="20889036" cy="176860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4997413" y="8069582"/>
            <a:ext cx="20991911" cy="3954778"/>
          </a:xfrm>
        </p:spPr>
        <p:txBody>
          <a:bodyPr anchor="b"/>
          <a:lstStyle>
            <a:lvl1pPr marL="0" indent="0">
              <a:buNone/>
              <a:defRPr sz="3600" b="1"/>
            </a:lvl1pPr>
            <a:lvl2pPr marL="685800" indent="0">
              <a:buNone/>
              <a:defRPr sz="3000" b="1"/>
            </a:lvl2pPr>
            <a:lvl3pPr marL="1371600" indent="0">
              <a:buNone/>
              <a:defRPr sz="2700" b="1"/>
            </a:lvl3pPr>
            <a:lvl4pPr marL="2057400" indent="0">
              <a:buNone/>
              <a:defRPr sz="2400" b="1"/>
            </a:lvl4pPr>
            <a:lvl5pPr marL="2743200" indent="0">
              <a:buNone/>
              <a:defRPr sz="2400" b="1"/>
            </a:lvl5pPr>
            <a:lvl6pPr marL="3429000" indent="0">
              <a:buNone/>
              <a:defRPr sz="2400" b="1"/>
            </a:lvl6pPr>
            <a:lvl7pPr marL="4114800" indent="0">
              <a:buNone/>
              <a:defRPr sz="2400" b="1"/>
            </a:lvl7pPr>
            <a:lvl8pPr marL="4800600" indent="0">
              <a:buNone/>
              <a:defRPr sz="2400" b="1"/>
            </a:lvl8pPr>
            <a:lvl9pPr marL="5486400" indent="0">
              <a:buNone/>
              <a:defRPr sz="24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4997413" y="12024360"/>
            <a:ext cx="20991911" cy="176860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1/2/25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58411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1/2/25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42448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1/2/25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94080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01142" y="2194560"/>
            <a:ext cx="15925561" cy="7680960"/>
          </a:xfrm>
        </p:spPr>
        <p:txBody>
          <a:bodyPr anchor="b"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991911" y="4739647"/>
            <a:ext cx="24997410" cy="23393400"/>
          </a:xfrm>
        </p:spPr>
        <p:txBody>
          <a:bodyPr/>
          <a:lstStyle>
            <a:lvl1pPr>
              <a:defRPr sz="4800"/>
            </a:lvl1pPr>
            <a:lvl2pPr>
              <a:defRPr sz="4200"/>
            </a:lvl2pPr>
            <a:lvl3pPr>
              <a:defRPr sz="3600"/>
            </a:lvl3pPr>
            <a:lvl4pPr>
              <a:defRPr sz="3000"/>
            </a:lvl4pPr>
            <a:lvl5pPr>
              <a:defRPr sz="3000"/>
            </a:lvl5pPr>
            <a:lvl6pPr>
              <a:defRPr sz="3000"/>
            </a:lvl6pPr>
            <a:lvl7pPr>
              <a:defRPr sz="3000"/>
            </a:lvl7pPr>
            <a:lvl8pPr>
              <a:defRPr sz="3000"/>
            </a:lvl8pPr>
            <a:lvl9pPr>
              <a:defRPr sz="3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01142" y="9875520"/>
            <a:ext cx="15925561" cy="18295622"/>
          </a:xfrm>
        </p:spPr>
        <p:txBody>
          <a:bodyPr/>
          <a:lstStyle>
            <a:lvl1pPr marL="0" indent="0">
              <a:buNone/>
              <a:defRPr sz="2400"/>
            </a:lvl1pPr>
            <a:lvl2pPr marL="685800" indent="0">
              <a:buNone/>
              <a:defRPr sz="2100"/>
            </a:lvl2pPr>
            <a:lvl3pPr marL="1371600" indent="0">
              <a:buNone/>
              <a:defRPr sz="1800"/>
            </a:lvl3pPr>
            <a:lvl4pPr marL="2057400" indent="0">
              <a:buNone/>
              <a:defRPr sz="1500"/>
            </a:lvl4pPr>
            <a:lvl5pPr marL="2743200" indent="0">
              <a:buNone/>
              <a:defRPr sz="1500"/>
            </a:lvl5pPr>
            <a:lvl6pPr marL="3429000" indent="0">
              <a:buNone/>
              <a:defRPr sz="1500"/>
            </a:lvl6pPr>
            <a:lvl7pPr marL="4114800" indent="0">
              <a:buNone/>
              <a:defRPr sz="1500"/>
            </a:lvl7pPr>
            <a:lvl8pPr marL="4800600" indent="0">
              <a:buNone/>
              <a:defRPr sz="1500"/>
            </a:lvl8pPr>
            <a:lvl9pPr marL="5486400" indent="0">
              <a:buNone/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1/2/25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28005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01142" y="2194560"/>
            <a:ext cx="15925561" cy="7680960"/>
          </a:xfrm>
        </p:spPr>
        <p:txBody>
          <a:bodyPr anchor="b"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0991911" y="4739647"/>
            <a:ext cx="24997410" cy="23393400"/>
          </a:xfrm>
        </p:spPr>
        <p:txBody>
          <a:bodyPr anchor="t"/>
          <a:lstStyle>
            <a:lvl1pPr marL="0" indent="0">
              <a:buNone/>
              <a:defRPr sz="4800"/>
            </a:lvl1pPr>
            <a:lvl2pPr marL="685800" indent="0">
              <a:buNone/>
              <a:defRPr sz="4200"/>
            </a:lvl2pPr>
            <a:lvl3pPr marL="1371600" indent="0">
              <a:buNone/>
              <a:defRPr sz="3600"/>
            </a:lvl3pPr>
            <a:lvl4pPr marL="2057400" indent="0">
              <a:buNone/>
              <a:defRPr sz="3000"/>
            </a:lvl4pPr>
            <a:lvl5pPr marL="2743200" indent="0">
              <a:buNone/>
              <a:defRPr sz="3000"/>
            </a:lvl5pPr>
            <a:lvl6pPr marL="3429000" indent="0">
              <a:buNone/>
              <a:defRPr sz="3000"/>
            </a:lvl6pPr>
            <a:lvl7pPr marL="4114800" indent="0">
              <a:buNone/>
              <a:defRPr sz="3000"/>
            </a:lvl7pPr>
            <a:lvl8pPr marL="4800600" indent="0">
              <a:buNone/>
              <a:defRPr sz="3000"/>
            </a:lvl8pPr>
            <a:lvl9pPr marL="5486400" indent="0">
              <a:buNone/>
              <a:defRPr sz="3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01142" y="9875520"/>
            <a:ext cx="15925561" cy="18295622"/>
          </a:xfrm>
        </p:spPr>
        <p:txBody>
          <a:bodyPr/>
          <a:lstStyle>
            <a:lvl1pPr marL="0" indent="0">
              <a:buNone/>
              <a:defRPr sz="2400"/>
            </a:lvl1pPr>
            <a:lvl2pPr marL="685800" indent="0">
              <a:buNone/>
              <a:defRPr sz="2100"/>
            </a:lvl2pPr>
            <a:lvl3pPr marL="1371600" indent="0">
              <a:buNone/>
              <a:defRPr sz="1800"/>
            </a:lvl3pPr>
            <a:lvl4pPr marL="2057400" indent="0">
              <a:buNone/>
              <a:defRPr sz="1500"/>
            </a:lvl4pPr>
            <a:lvl5pPr marL="2743200" indent="0">
              <a:buNone/>
              <a:defRPr sz="1500"/>
            </a:lvl5pPr>
            <a:lvl6pPr marL="3429000" indent="0">
              <a:buNone/>
              <a:defRPr sz="1500"/>
            </a:lvl6pPr>
            <a:lvl7pPr marL="4114800" indent="0">
              <a:buNone/>
              <a:defRPr sz="1500"/>
            </a:lvl7pPr>
            <a:lvl8pPr marL="4800600" indent="0">
              <a:buNone/>
              <a:defRPr sz="1500"/>
            </a:lvl8pPr>
            <a:lvl9pPr marL="5486400" indent="0">
              <a:buNone/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1/2/25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50367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1/2/25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55192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5335848" y="1752600"/>
            <a:ext cx="10647045" cy="27896822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394713" y="1752600"/>
            <a:ext cx="31323915" cy="2789682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1/2/25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19502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394710" y="1752607"/>
            <a:ext cx="42588180" cy="6362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394710" y="8763000"/>
            <a:ext cx="42588180" cy="2088642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394710" y="30510487"/>
            <a:ext cx="11109960" cy="1752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dirty="0"/>
              <a:t>1/2/25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356330" y="30510487"/>
            <a:ext cx="16664940" cy="1752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4872930" y="30510487"/>
            <a:ext cx="11109960" cy="1752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10018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D660CFD3-5A76-E123-D8BA-0E60898A01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>
          <a:xfrm>
            <a:off x="25395383" y="3850324"/>
            <a:ext cx="23982217" cy="1783509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i="1">
              <a:latin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78733BE-059C-47B7-9415-5ADF2F3024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102285" y="3850324"/>
            <a:ext cx="25497668" cy="29068076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i="1">
              <a:latin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DDC4359A-7BBB-495A-96DE-65574C0C88E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8941" y="5057739"/>
            <a:ext cx="24610804" cy="22802921"/>
          </a:xfrm>
        </p:spPr>
        <p:txBody>
          <a:bodyPr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9600">
                <a:solidFill>
                  <a:schemeClr val="bg1"/>
                </a:solidFill>
                <a:latin typeface="Lato"/>
                <a:ea typeface="Lato"/>
                <a:cs typeface="Arial"/>
              </a:rPr>
              <a:t>In our study, we found </a:t>
            </a:r>
            <a:r>
              <a:rPr lang="en-US" sz="9600" u="sng">
                <a:solidFill>
                  <a:schemeClr val="bg1"/>
                </a:solidFill>
                <a:latin typeface="Lato"/>
                <a:ea typeface="Lato"/>
                <a:cs typeface="Arial"/>
              </a:rPr>
              <a:t>four patterns of engagement</a:t>
            </a:r>
            <a:r>
              <a:rPr lang="en-US" sz="9600">
                <a:solidFill>
                  <a:schemeClr val="bg1"/>
                </a:solidFill>
                <a:latin typeface="Lato"/>
                <a:ea typeface="Lato"/>
                <a:cs typeface="Arial"/>
              </a:rPr>
              <a:t> with religion and spirituality. </a:t>
            </a:r>
            <a:br>
              <a:rPr lang="en-US" sz="9600">
                <a:solidFill>
                  <a:schemeClr val="bg1"/>
                </a:solidFill>
                <a:latin typeface="Lato"/>
                <a:ea typeface="Lato"/>
                <a:cs typeface="Arial"/>
              </a:rPr>
            </a:br>
            <a:br>
              <a:rPr lang="en-US" sz="9600">
                <a:solidFill>
                  <a:schemeClr val="bg1"/>
                </a:solidFill>
                <a:latin typeface="Lato"/>
                <a:ea typeface="Lato"/>
                <a:cs typeface="Arial"/>
              </a:rPr>
            </a:br>
            <a:r>
              <a:rPr lang="en-US" sz="9600">
                <a:solidFill>
                  <a:schemeClr val="bg1"/>
                </a:solidFill>
                <a:latin typeface="Lato"/>
                <a:ea typeface="Lato"/>
                <a:cs typeface="Arial"/>
              </a:rPr>
              <a:t>In fact, non-religious or spiritual SGM-POC reported the </a:t>
            </a:r>
            <a:r>
              <a:rPr lang="en-US" sz="9600" u="sng">
                <a:solidFill>
                  <a:schemeClr val="bg1"/>
                </a:solidFill>
                <a:latin typeface="Lato"/>
                <a:ea typeface="Lato"/>
                <a:cs typeface="Arial"/>
              </a:rPr>
              <a:t>lowest levels of internalized stigma and religious/spiritual identity conflict</a:t>
            </a:r>
            <a:r>
              <a:rPr lang="en-US" sz="9600">
                <a:solidFill>
                  <a:schemeClr val="bg1"/>
                </a:solidFill>
                <a:latin typeface="Lato"/>
                <a:ea typeface="Lato"/>
                <a:cs typeface="Arial"/>
              </a:rPr>
              <a:t>.</a:t>
            </a:r>
            <a:br>
              <a:rPr lang="en-US" sz="9600">
                <a:solidFill>
                  <a:schemeClr val="bg1"/>
                </a:solidFill>
                <a:latin typeface="Lato"/>
                <a:ea typeface="Lato"/>
                <a:cs typeface="Arial"/>
              </a:rPr>
            </a:br>
            <a:r>
              <a:rPr lang="en-US" sz="9600">
                <a:solidFill>
                  <a:schemeClr val="bg1"/>
                </a:solidFill>
                <a:latin typeface="Lato"/>
                <a:ea typeface="Lato"/>
                <a:cs typeface="Arial"/>
              </a:rPr>
              <a:t> </a:t>
            </a:r>
            <a:br>
              <a:rPr lang="en-US" sz="9600">
                <a:solidFill>
                  <a:schemeClr val="bg1"/>
                </a:solidFill>
                <a:latin typeface="Lato"/>
                <a:ea typeface="Lato"/>
                <a:cs typeface="Arial"/>
              </a:rPr>
            </a:br>
            <a:r>
              <a:rPr lang="en-US" sz="9600">
                <a:solidFill>
                  <a:schemeClr val="bg1"/>
                </a:solidFill>
                <a:latin typeface="Lato"/>
                <a:ea typeface="Lato"/>
                <a:cs typeface="Arial"/>
              </a:rPr>
              <a:t>However, religious and spiritual SGM-POC </a:t>
            </a:r>
            <a:r>
              <a:rPr lang="en-US" sz="9600" u="sng">
                <a:solidFill>
                  <a:schemeClr val="bg1"/>
                </a:solidFill>
                <a:latin typeface="Lato"/>
                <a:ea typeface="Lato"/>
                <a:cs typeface="Arial"/>
              </a:rPr>
              <a:t>reported lower depression</a:t>
            </a:r>
            <a:r>
              <a:rPr lang="en-US" sz="9600">
                <a:solidFill>
                  <a:schemeClr val="bg1"/>
                </a:solidFill>
                <a:latin typeface="Lato"/>
                <a:ea typeface="Lato"/>
                <a:cs typeface="Arial"/>
              </a:rPr>
              <a:t> than spiritual SGM-POC and non-religious or spiritual SGM-POC.</a:t>
            </a:r>
            <a:br>
              <a:rPr lang="en-US" sz="9600">
                <a:solidFill>
                  <a:schemeClr val="bg1"/>
                </a:solidFill>
                <a:latin typeface="Lato"/>
                <a:ea typeface="Lato"/>
                <a:cs typeface="Arial"/>
              </a:rPr>
            </a:br>
            <a:br>
              <a:rPr lang="en-US" sz="9600">
                <a:solidFill>
                  <a:schemeClr val="bg1"/>
                </a:solidFill>
                <a:latin typeface="Lato"/>
                <a:ea typeface="Lato"/>
                <a:cs typeface="Arial"/>
              </a:rPr>
            </a:br>
            <a:r>
              <a:rPr lang="en-US" sz="9600" u="sng">
                <a:solidFill>
                  <a:schemeClr val="bg1"/>
                </a:solidFill>
                <a:latin typeface="Lato"/>
                <a:ea typeface="Lato"/>
                <a:cs typeface="Arial"/>
              </a:rPr>
              <a:t>Black SGMs were more likely to be either religious or spiritual</a:t>
            </a:r>
            <a:r>
              <a:rPr lang="en-US" sz="9600">
                <a:solidFill>
                  <a:schemeClr val="bg1"/>
                </a:solidFill>
                <a:latin typeface="Lato"/>
                <a:ea typeface="Lato"/>
                <a:cs typeface="Arial"/>
              </a:rPr>
              <a:t> than non-religious or spiritual. </a:t>
            </a:r>
            <a:endParaRPr lang="en-US" sz="9600">
              <a:solidFill>
                <a:schemeClr val="bg1"/>
              </a:solidFill>
              <a:latin typeface="Lato" panose="020F0502020204030203" pitchFamily="34" charset="0"/>
              <a:ea typeface="Lato"/>
              <a:cs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CAC4B58-8623-4DBE-951A-DDF821787031}"/>
              </a:ext>
            </a:extLst>
          </p:cNvPr>
          <p:cNvSpPr txBox="1"/>
          <p:nvPr/>
        </p:nvSpPr>
        <p:spPr>
          <a:xfrm>
            <a:off x="25811021" y="3907762"/>
            <a:ext cx="23050667" cy="14383168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20000"/>
              </a:lnSpc>
            </a:pPr>
            <a:r>
              <a:rPr lang="en-US" sz="6000">
                <a:solidFill>
                  <a:schemeClr val="bg1"/>
                </a:solidFill>
                <a:latin typeface="Lato Black" panose="020F0A02020204030203" pitchFamily="34" charset="0"/>
                <a:cs typeface="Arial" panose="020B0604020202020204" pitchFamily="34" charset="0"/>
              </a:rPr>
              <a:t>METHODS</a:t>
            </a:r>
          </a:p>
          <a:p>
            <a:pPr marL="685800" indent="-6858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600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The present study utilized </a:t>
            </a:r>
            <a:r>
              <a:rPr lang="en-US" sz="6000" u="sng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a sample of 403</a:t>
            </a:r>
            <a:r>
              <a:rPr lang="en-US" sz="600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sexual and gender minorities of color (SGM-POC) to perform </a:t>
            </a:r>
            <a:r>
              <a:rPr lang="en-US" sz="6000" u="sng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latent profile analysis </a:t>
            </a:r>
            <a:r>
              <a:rPr lang="en-US" sz="600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using the {</a:t>
            </a:r>
            <a:r>
              <a:rPr lang="en-US" sz="6000" err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tidySEM</a:t>
            </a:r>
            <a:r>
              <a:rPr lang="en-US" sz="600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} package in R programming (R Core Team, 2024), and subsequently perform analyses with auxiliary variables. </a:t>
            </a:r>
          </a:p>
          <a:p>
            <a:pPr>
              <a:lnSpc>
                <a:spcPct val="120000"/>
              </a:lnSpc>
            </a:pPr>
            <a:endParaRPr lang="en-US" sz="6000">
              <a:solidFill>
                <a:schemeClr val="bg1"/>
              </a:solidFill>
              <a:latin typeface="Lato Black" panose="020F0A02020204030203" pitchFamily="34" charset="0"/>
              <a:cs typeface="Arial" panose="020B0604020202020204" pitchFamily="34" charset="0"/>
            </a:endParaRPr>
          </a:p>
          <a:p>
            <a:pPr>
              <a:lnSpc>
                <a:spcPct val="120000"/>
              </a:lnSpc>
            </a:pPr>
            <a:r>
              <a:rPr lang="en-US" sz="6000">
                <a:solidFill>
                  <a:schemeClr val="bg1"/>
                </a:solidFill>
                <a:latin typeface="Lato Black" panose="020F0A02020204030203" pitchFamily="34" charset="0"/>
                <a:cs typeface="Arial" panose="020B0604020202020204" pitchFamily="34" charset="0"/>
              </a:rPr>
              <a:t>RESULTS</a:t>
            </a:r>
          </a:p>
          <a:p>
            <a:pPr marL="571500" indent="-5715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6000">
                <a:solidFill>
                  <a:schemeClr val="bg1"/>
                </a:solidFill>
                <a:latin typeface="Lato"/>
                <a:ea typeface="Lato"/>
                <a:cs typeface="Lato"/>
              </a:rPr>
              <a:t>We identified </a:t>
            </a:r>
            <a:r>
              <a:rPr lang="en-US" sz="6000" u="sng">
                <a:solidFill>
                  <a:schemeClr val="bg1"/>
                </a:solidFill>
                <a:latin typeface="Lato"/>
                <a:ea typeface="Lato"/>
                <a:cs typeface="Lato"/>
              </a:rPr>
              <a:t>four patterns of engagement </a:t>
            </a:r>
            <a:r>
              <a:rPr lang="en-US" sz="6000">
                <a:solidFill>
                  <a:schemeClr val="bg1"/>
                </a:solidFill>
                <a:latin typeface="Lato"/>
                <a:ea typeface="Lato"/>
                <a:cs typeface="Lato"/>
              </a:rPr>
              <a:t>in a sample of SGM-POC: (1) Not Religious or Spiritual, (2) Not Religious but Spiritual, (3) Religious but not Spiritual, and (4) Religious and Spiritual. </a:t>
            </a:r>
          </a:p>
          <a:p>
            <a:pPr marL="571500" indent="-5715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6000">
                <a:solidFill>
                  <a:schemeClr val="bg1"/>
                </a:solidFill>
                <a:latin typeface="Lato"/>
                <a:ea typeface="Lato"/>
                <a:cs typeface="Lato"/>
              </a:rPr>
              <a:t>We observed several significant demographic predictors of class membership and health and religious outcomes between classes. </a:t>
            </a:r>
          </a:p>
          <a:p>
            <a:pPr marL="571500" indent="-5715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6000" u="sng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For in-depth results see link.</a:t>
            </a:r>
            <a:endParaRPr lang="en-US" sz="6000" u="sng">
              <a:solidFill>
                <a:schemeClr val="bg1"/>
              </a:solidFill>
              <a:latin typeface="Lato Black" panose="020F0A02020204030203" pitchFamily="34" charset="0"/>
              <a:cs typeface="Arial" panose="020B0604020202020204" pitchFamily="34" charset="0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8896619-6953-4449-9A3C-A61AD6AB2C79}"/>
              </a:ext>
            </a:extLst>
          </p:cNvPr>
          <p:cNvSpPr txBox="1"/>
          <p:nvPr/>
        </p:nvSpPr>
        <p:spPr>
          <a:xfrm>
            <a:off x="257069" y="1026374"/>
            <a:ext cx="11962639" cy="267765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6000" b="1">
                <a:latin typeface="Lato"/>
                <a:ea typeface="Lato"/>
                <a:cs typeface="Lato"/>
              </a:rPr>
              <a:t>Authors </a:t>
            </a:r>
            <a:endParaRPr lang="en-US" sz="2800">
              <a:latin typeface="Calibri" panose="020F0502020204030204"/>
              <a:ea typeface="Lato"/>
              <a:cs typeface="Calibri" panose="020F0502020204030204"/>
            </a:endParaRPr>
          </a:p>
          <a:p>
            <a:r>
              <a:rPr lang="en-US" sz="5400">
                <a:latin typeface="Lato"/>
                <a:ea typeface="Lato"/>
                <a:cs typeface="Lato"/>
              </a:rPr>
              <a:t>Seungju Kim, University of Illinois</a:t>
            </a:r>
            <a:endParaRPr lang="en-US" sz="5400">
              <a:cs typeface="Calibri"/>
            </a:endParaRPr>
          </a:p>
          <a:p>
            <a:r>
              <a:rPr lang="en-US" sz="5400">
                <a:latin typeface="Lato"/>
                <a:ea typeface="Lato"/>
                <a:cs typeface="Lato"/>
              </a:rPr>
              <a:t>G. Tyler Lefevor, Utah State University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CF37902-2C8D-3049-9881-50CB35F2A6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9209369" y="433800"/>
            <a:ext cx="32590210" cy="3062377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sz="9650" b="1" i="1">
                <a:latin typeface="Lato"/>
                <a:ea typeface="Lato"/>
                <a:cs typeface="Lato"/>
              </a:rPr>
              <a:t>How Do Sexual and Gender Minorities of Color </a:t>
            </a:r>
          </a:p>
          <a:p>
            <a:pPr algn="ctr"/>
            <a:r>
              <a:rPr lang="en-US" sz="9650" b="1" i="1">
                <a:latin typeface="Lato"/>
                <a:ea typeface="Lato"/>
                <a:cs typeface="Lato"/>
              </a:rPr>
              <a:t>Engage with Religion and Spirituality?</a:t>
            </a:r>
            <a:endParaRPr lang="en-US" sz="9650" i="1">
              <a:latin typeface="Lato"/>
              <a:ea typeface="Lato"/>
              <a:cs typeface="Lato"/>
            </a:endParaRPr>
          </a:p>
        </p:txBody>
      </p:sp>
      <p:pic>
        <p:nvPicPr>
          <p:cNvPr id="2" name="Picture 1" descr="Utah State University - Wikipedia">
            <a:extLst>
              <a:ext uri="{FF2B5EF4-FFF2-40B4-BE49-F238E27FC236}">
                <a16:creationId xmlns:a16="http://schemas.microsoft.com/office/drawing/2014/main" id="{EEC5CFFD-56F7-DEBF-97F0-4815D118EA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137477" y="117632"/>
            <a:ext cx="3724211" cy="361415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55B348EE-7440-55DC-3E26-3082387B9893}"/>
              </a:ext>
            </a:extLst>
          </p:cNvPr>
          <p:cNvSpPr txBox="1"/>
          <p:nvPr/>
        </p:nvSpPr>
        <p:spPr>
          <a:xfrm>
            <a:off x="444107" y="29373867"/>
            <a:ext cx="22527492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>
                <a:solidFill>
                  <a:schemeClr val="bg1"/>
                </a:solidFill>
              </a:rPr>
              <a:t>Read more results, code, data, and preprint at </a:t>
            </a:r>
            <a:r>
              <a:rPr lang="en-US" sz="9600" err="1">
                <a:solidFill>
                  <a:schemeClr val="bg1"/>
                </a:solidFill>
              </a:rPr>
              <a:t>doi.org</a:t>
            </a:r>
            <a:r>
              <a:rPr lang="en-US" sz="9600">
                <a:solidFill>
                  <a:schemeClr val="bg1"/>
                </a:solidFill>
              </a:rPr>
              <a:t>/MISSING</a:t>
            </a:r>
          </a:p>
        </p:txBody>
      </p:sp>
      <p:pic>
        <p:nvPicPr>
          <p:cNvPr id="1026" name="Picture 2" descr="Logo | Visual Identity | Brand Guidelines | Illinois">
            <a:extLst>
              <a:ext uri="{FF2B5EF4-FFF2-40B4-BE49-F238E27FC236}">
                <a16:creationId xmlns:a16="http://schemas.microsoft.com/office/drawing/2014/main" id="{EAD681CF-FC64-B084-5531-8407FE7BCD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413266" y="60757"/>
            <a:ext cx="3724211" cy="37242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6815D9C-C912-75BA-4639-3803E4BFC53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395382" y="18770947"/>
            <a:ext cx="23982217" cy="141474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39593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357</Words>
  <Application>Microsoft Macintosh PowerPoint</Application>
  <PresentationFormat>Custom</PresentationFormat>
  <Paragraphs>21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Lato</vt:lpstr>
      <vt:lpstr>Lato Black</vt:lpstr>
      <vt:lpstr>Office Theme</vt:lpstr>
      <vt:lpstr>In our study, we found four patterns of engagement with religion and spirituality.   In fact, non-religious or spiritual SGM-POC reported the lowest levels of internalized stigma and religious/spiritual identity conflict.   However, religious and spiritual SGM-POC reported lower depression than spiritual SGM-POC and non-religious or spiritual SGM-POC.  Black SGMs were more likely to be either religious or spiritual than non-religious or spiritual.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Mike Morrison</dc:creator>
  <cp:lastModifiedBy>Seungju Kim</cp:lastModifiedBy>
  <cp:revision>1</cp:revision>
  <dcterms:created xsi:type="dcterms:W3CDTF">2018-09-16T19:13:41Z</dcterms:created>
  <dcterms:modified xsi:type="dcterms:W3CDTF">2025-01-02T13:35:34Z</dcterms:modified>
</cp:coreProperties>
</file>